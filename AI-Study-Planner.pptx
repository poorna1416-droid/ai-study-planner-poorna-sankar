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anose="020B0604020202020204" charset="0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3" d="100"/>
          <a:sy n="43" d="100"/>
        </p:scale>
        <p:origin x="8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181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23.sv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i-study-planner-five.vercel.app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F1F1F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237298"/>
            <a:ext cx="130428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Study Planner Dashboard</a:t>
            </a:r>
            <a:endParaRPr lang="en-US" sz="8900" dirty="0"/>
          </a:p>
        </p:txBody>
      </p:sp>
      <p:sp>
        <p:nvSpPr>
          <p:cNvPr id="5" name="Text 2"/>
          <p:cNvSpPr/>
          <p:nvPr/>
        </p:nvSpPr>
        <p:spPr>
          <a:xfrm>
            <a:off x="793790" y="441281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Transforming Academic Productivity Through Intelligent Study Management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12147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83013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6538793"/>
            <a:ext cx="13042821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Presented by Vamsi and team 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467" y="540187"/>
            <a:ext cx="4911090" cy="613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Dashboard Overview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87467" y="1448633"/>
            <a:ext cx="7769066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Study Planner Dashboard is your central hub for academic success, offering a comprehensive and intuitive platform to manage your educational journey.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7467" y="2402681"/>
            <a:ext cx="98108" cy="98108"/>
          </a:xfrm>
          <a:prstGeom prst="roundRect">
            <a:avLst>
              <a:gd name="adj" fmla="val 466017"/>
            </a:avLst>
          </a:prstGeom>
          <a:solidFill>
            <a:srgbClr val="F5F547"/>
          </a:solidFill>
          <a:ln/>
        </p:spPr>
      </p:sp>
      <p:sp>
        <p:nvSpPr>
          <p:cNvPr id="6" name="Text 3"/>
          <p:cNvSpPr/>
          <p:nvPr/>
        </p:nvSpPr>
        <p:spPr>
          <a:xfrm>
            <a:off x="981908" y="2298263"/>
            <a:ext cx="3569494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Comprehensive Study Tracking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81908" y="2722840"/>
            <a:ext cx="7474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all your academic activities, including assignments, deadlines, and study sessions, in one unified view.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87467" y="3848695"/>
            <a:ext cx="98108" cy="98108"/>
          </a:xfrm>
          <a:prstGeom prst="roundRect">
            <a:avLst>
              <a:gd name="adj" fmla="val 466017"/>
            </a:avLst>
          </a:prstGeom>
          <a:solidFill>
            <a:srgbClr val="F5F547"/>
          </a:solidFill>
          <a:ln/>
        </p:spPr>
      </p:sp>
      <p:sp>
        <p:nvSpPr>
          <p:cNvPr id="9" name="Text 6"/>
          <p:cNvSpPr/>
          <p:nvPr/>
        </p:nvSpPr>
        <p:spPr>
          <a:xfrm>
            <a:off x="981908" y="3744278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Intelligent Analytics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81908" y="4168854"/>
            <a:ext cx="7474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AI-driven analysis to understand your study patterns, identify strengths, and pinpoint areas needing more focus.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7467" y="5294709"/>
            <a:ext cx="98108" cy="98108"/>
          </a:xfrm>
          <a:prstGeom prst="roundRect">
            <a:avLst>
              <a:gd name="adj" fmla="val 466017"/>
            </a:avLst>
          </a:prstGeom>
          <a:solidFill>
            <a:srgbClr val="F5F547"/>
          </a:solidFill>
          <a:ln/>
        </p:spPr>
      </p:sp>
      <p:sp>
        <p:nvSpPr>
          <p:cNvPr id="12" name="Text 9"/>
          <p:cNvSpPr/>
          <p:nvPr/>
        </p:nvSpPr>
        <p:spPr>
          <a:xfrm>
            <a:off x="981908" y="5190292"/>
            <a:ext cx="2455545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Personalized Insights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981908" y="5614868"/>
            <a:ext cx="7474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 tailored recommendations and adaptive learning paths designed to optimize your individual learning style and pace.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87467" y="6740723"/>
            <a:ext cx="98108" cy="98108"/>
          </a:xfrm>
          <a:prstGeom prst="roundRect">
            <a:avLst>
              <a:gd name="adj" fmla="val 466017"/>
            </a:avLst>
          </a:prstGeom>
          <a:solidFill>
            <a:srgbClr val="F5F547"/>
          </a:solidFill>
          <a:ln/>
        </p:spPr>
      </p:sp>
      <p:sp>
        <p:nvSpPr>
          <p:cNvPr id="15" name="Text 12"/>
          <p:cNvSpPr/>
          <p:nvPr/>
        </p:nvSpPr>
        <p:spPr>
          <a:xfrm>
            <a:off x="981908" y="6636306"/>
            <a:ext cx="2554843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 Optimization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981908" y="7060883"/>
            <a:ext cx="7474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Continuously refine your study strategies and habits to maximize efficiency and achieve superior academic performance.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7199"/>
            <a:ext cx="60989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Key Metrics at a Glance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32954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247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900113" y="4664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Total Study Hours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5155168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 invested in learning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363295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85%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4231719" y="4664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Completion Rate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25278" y="515516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Overall task accomplishment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456884" y="363295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46647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Subjects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56884" y="515516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Currently engaged courses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0788491" y="3632954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12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10788491" y="4664750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Achievements Unlocked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788491" y="550949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Badges earned for progress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02519"/>
            <a:ext cx="112358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Why Choose AI Study Planner Dashboard?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6492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the unparalleled advantages our AI-powered platform offers to students, educators, and productivity enthusiasts alike.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245882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4253" y="3380542"/>
            <a:ext cx="4134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Elevate Academic Performance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644253" y="3870960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Utilize adaptive learning paths, targeted practice, and AI feedback to significantly improve understanding and achieve higher grades.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3245882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307348" y="3380542"/>
            <a:ext cx="376487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Maximize Time Optimization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307348" y="3870960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 schedule creation, prioritize tasks, and minimize distractions, ensuring every study session is highly productive and efficient.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413296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4253" y="5547955"/>
            <a:ext cx="2857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Alleviate Study Stress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1644253" y="6038374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peace of mind with a clear overview of deadlines, balanced workloads, and predictive insights that prevent last-minute cramming.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413296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307348" y="5547955"/>
            <a:ext cx="38502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Harness Data-Driven Insights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8307348" y="6038374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 personalized analytics on your progress, identify learning gaps, and adapt your strategies for continuous, informed improvement.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675" y="635198"/>
            <a:ext cx="7862649" cy="1578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200"/>
              </a:lnSpc>
              <a:buNone/>
            </a:pPr>
            <a:r>
              <a:rPr lang="en-US" sz="49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Transform Your Study Experience Today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640675" y="2488525"/>
            <a:ext cx="7862649" cy="58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Ready to elevate your academic journey? The AI Study Planner Dashboard is your essential partner for unprecedented success.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675" y="3554492"/>
            <a:ext cx="3839766" cy="1937504"/>
          </a:xfrm>
          <a:prstGeom prst="roundRect">
            <a:avLst>
              <a:gd name="adj" fmla="val 5663"/>
            </a:avLst>
          </a:prstGeom>
          <a:solidFill>
            <a:srgbClr val="1F1F1F"/>
          </a:solidFill>
          <a:ln/>
        </p:spPr>
      </p:sp>
      <p:sp>
        <p:nvSpPr>
          <p:cNvPr id="6" name="Shape 3"/>
          <p:cNvSpPr/>
          <p:nvPr/>
        </p:nvSpPr>
        <p:spPr>
          <a:xfrm>
            <a:off x="640675" y="3531632"/>
            <a:ext cx="3839766" cy="91440"/>
          </a:xfrm>
          <a:prstGeom prst="roundRect">
            <a:avLst>
              <a:gd name="adj" fmla="val 30029"/>
            </a:avLst>
          </a:prstGeom>
          <a:solidFill>
            <a:srgbClr val="F5F547"/>
          </a:solidFill>
          <a:ln/>
        </p:spPr>
      </p:sp>
      <p:sp>
        <p:nvSpPr>
          <p:cNvPr id="7" name="Shape 4"/>
          <p:cNvSpPr/>
          <p:nvPr/>
        </p:nvSpPr>
        <p:spPr>
          <a:xfrm>
            <a:off x="2286000" y="3279934"/>
            <a:ext cx="549116" cy="549116"/>
          </a:xfrm>
          <a:prstGeom prst="roundRect">
            <a:avLst>
              <a:gd name="adj" fmla="val 166522"/>
            </a:avLst>
          </a:prstGeom>
          <a:solidFill>
            <a:srgbClr val="F5F54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50783" y="3444716"/>
            <a:ext cx="219551" cy="2195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6534" y="4012049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Sign Up Now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46534" y="4407813"/>
            <a:ext cx="3428047" cy="87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 your free account in minutes and begin your path to optimized learning and higher grades.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3554492"/>
            <a:ext cx="3839885" cy="1937504"/>
          </a:xfrm>
          <a:prstGeom prst="roundRect">
            <a:avLst>
              <a:gd name="adj" fmla="val 5663"/>
            </a:avLst>
          </a:prstGeom>
          <a:solidFill>
            <a:srgbClr val="1F1F1F"/>
          </a:solidFill>
          <a:ln/>
        </p:spPr>
      </p:sp>
      <p:sp>
        <p:nvSpPr>
          <p:cNvPr id="12" name="Shape 8"/>
          <p:cNvSpPr/>
          <p:nvPr/>
        </p:nvSpPr>
        <p:spPr>
          <a:xfrm>
            <a:off x="4663440" y="3531632"/>
            <a:ext cx="3839885" cy="91440"/>
          </a:xfrm>
          <a:prstGeom prst="roundRect">
            <a:avLst>
              <a:gd name="adj" fmla="val 30029"/>
            </a:avLst>
          </a:prstGeom>
          <a:solidFill>
            <a:srgbClr val="F5F547"/>
          </a:solidFill>
          <a:ln/>
        </p:spPr>
      </p:sp>
      <p:sp>
        <p:nvSpPr>
          <p:cNvPr id="13" name="Shape 9"/>
          <p:cNvSpPr/>
          <p:nvPr/>
        </p:nvSpPr>
        <p:spPr>
          <a:xfrm>
            <a:off x="6308765" y="3279934"/>
            <a:ext cx="549116" cy="549116"/>
          </a:xfrm>
          <a:prstGeom prst="roundRect">
            <a:avLst>
              <a:gd name="adj" fmla="val 166522"/>
            </a:avLst>
          </a:prstGeom>
          <a:solidFill>
            <a:srgbClr val="F5F54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3547" y="3444716"/>
            <a:ext cx="219551" cy="2195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69299" y="4012049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Features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869299" y="4407813"/>
            <a:ext cx="3428167" cy="87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 into personalized analytics, smart scheduling, and adaptive learning paths that cater to your unique needs.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40675" y="5949553"/>
            <a:ext cx="7862649" cy="1644729"/>
          </a:xfrm>
          <a:prstGeom prst="roundRect">
            <a:avLst>
              <a:gd name="adj" fmla="val 6671"/>
            </a:avLst>
          </a:prstGeom>
          <a:solidFill>
            <a:srgbClr val="1F1F1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675" y="5926693"/>
            <a:ext cx="7862649" cy="91440"/>
          </a:xfrm>
          <a:prstGeom prst="roundRect">
            <a:avLst>
              <a:gd name="adj" fmla="val 30029"/>
            </a:avLst>
          </a:prstGeom>
          <a:solidFill>
            <a:srgbClr val="F5F547"/>
          </a:solidFill>
          <a:ln/>
        </p:spPr>
      </p:sp>
      <p:sp>
        <p:nvSpPr>
          <p:cNvPr id="19" name="Shape 14"/>
          <p:cNvSpPr/>
          <p:nvPr/>
        </p:nvSpPr>
        <p:spPr>
          <a:xfrm>
            <a:off x="4297442" y="5674995"/>
            <a:ext cx="549116" cy="549116"/>
          </a:xfrm>
          <a:prstGeom prst="roundRect">
            <a:avLst>
              <a:gd name="adj" fmla="val 166522"/>
            </a:avLst>
          </a:prstGeom>
          <a:solidFill>
            <a:srgbClr val="F5F5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62224" y="5839778"/>
            <a:ext cx="219551" cy="2195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6534" y="6407110"/>
            <a:ext cx="228814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 In Touch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46534" y="6802874"/>
            <a:ext cx="7450931" cy="58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Have questions or need assistance? Our dedicated support team is here to help you every step of the way.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2345" y="520422"/>
            <a:ext cx="5184100" cy="591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Weekly Study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2345" y="1395651"/>
            <a:ext cx="7819311" cy="907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 deeper into your learning habits with detailed weekly breakdowns, helping you understand and optimize your study routine for maximum effectiveness and consistent academic growth.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2345" y="2616994"/>
            <a:ext cx="94536" cy="94536"/>
          </a:xfrm>
          <a:prstGeom prst="roundRect">
            <a:avLst>
              <a:gd name="adj" fmla="val 483625"/>
            </a:avLst>
          </a:prstGeom>
          <a:solidFill>
            <a:srgbClr val="F5F547"/>
          </a:solidFill>
          <a:ln/>
        </p:spPr>
      </p:sp>
      <p:sp>
        <p:nvSpPr>
          <p:cNvPr id="6" name="Text 3"/>
          <p:cNvSpPr/>
          <p:nvPr/>
        </p:nvSpPr>
        <p:spPr>
          <a:xfrm>
            <a:off x="946071" y="2516505"/>
            <a:ext cx="2365534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Daily Time Tracking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46071" y="2925604"/>
            <a:ext cx="7535585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your study duration each day to maintain consistency and ensure adequate time investment across all your learning activities.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2345" y="4009787"/>
            <a:ext cx="94536" cy="94536"/>
          </a:xfrm>
          <a:prstGeom prst="roundRect">
            <a:avLst>
              <a:gd name="adj" fmla="val 483625"/>
            </a:avLst>
          </a:prstGeom>
          <a:solidFill>
            <a:srgbClr val="F5F547"/>
          </a:solidFill>
          <a:ln/>
        </p:spPr>
      </p:sp>
      <p:sp>
        <p:nvSpPr>
          <p:cNvPr id="9" name="Text 6"/>
          <p:cNvSpPr/>
          <p:nvPr/>
        </p:nvSpPr>
        <p:spPr>
          <a:xfrm>
            <a:off x="946071" y="3909298"/>
            <a:ext cx="2365534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Productivity Insights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46071" y="4318397"/>
            <a:ext cx="7535585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Discover your personal peak productivity hours by analyzing when you are most focused and effective, allowing for optimized scheduling.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2345" y="5402580"/>
            <a:ext cx="94536" cy="94536"/>
          </a:xfrm>
          <a:prstGeom prst="roundRect">
            <a:avLst>
              <a:gd name="adj" fmla="val 483625"/>
            </a:avLst>
          </a:prstGeom>
          <a:solidFill>
            <a:srgbClr val="F5F547"/>
          </a:solidFill>
          <a:ln/>
        </p:spPr>
      </p:sp>
      <p:sp>
        <p:nvSpPr>
          <p:cNvPr id="12" name="Text 9"/>
          <p:cNvSpPr/>
          <p:nvPr/>
        </p:nvSpPr>
        <p:spPr>
          <a:xfrm>
            <a:off x="946071" y="5302091"/>
            <a:ext cx="2365534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Balanced Learning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46071" y="5711190"/>
            <a:ext cx="7535585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Gain insights into your subject rotation to ensure comprehensive coverage across all courses, preventing neglect and promoting holistic understanding.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2345" y="6795373"/>
            <a:ext cx="94536" cy="94536"/>
          </a:xfrm>
          <a:prstGeom prst="roundRect">
            <a:avLst>
              <a:gd name="adj" fmla="val 483625"/>
            </a:avLst>
          </a:prstGeom>
          <a:solidFill>
            <a:srgbClr val="F5F547"/>
          </a:solidFill>
          <a:ln/>
        </p:spPr>
      </p:sp>
      <p:sp>
        <p:nvSpPr>
          <p:cNvPr id="15" name="Text 12"/>
          <p:cNvSpPr/>
          <p:nvPr/>
        </p:nvSpPr>
        <p:spPr>
          <a:xfrm>
            <a:off x="946071" y="6694884"/>
            <a:ext cx="2365534" cy="295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 Attainment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46071" y="7103983"/>
            <a:ext cx="7535585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your progress against weekly study goals, celebrating achievements and making necessary adjustments to stay on track.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3911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 Management &amp; Task Distribution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Efficiently organizing your academic commitments is crucial for success. Our dashboard provides robust tools to manage subjects and tasks, ensuring nothing falls through the cracks.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96835" y="1201936"/>
            <a:ext cx="6861691" cy="865227"/>
          </a:xfrm>
          <a:prstGeom prst="roundRect">
            <a:avLst>
              <a:gd name="adj" fmla="val 8455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1595" y="1201936"/>
            <a:ext cx="60960" cy="865227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6" name="Text 4"/>
          <p:cNvSpPr/>
          <p:nvPr/>
        </p:nvSpPr>
        <p:spPr>
          <a:xfrm>
            <a:off x="571143" y="1330523"/>
            <a:ext cx="1585674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Subject Priority Ranking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1143" y="1575673"/>
            <a:ext cx="655879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automatically prioritizes subjects based on upcoming deadlines, personal performance, and instructor-assigned importance.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71874" y="1201936"/>
            <a:ext cx="6861691" cy="865227"/>
          </a:xfrm>
          <a:prstGeom prst="roundRect">
            <a:avLst>
              <a:gd name="adj" fmla="val 8455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634" y="1201936"/>
            <a:ext cx="60960" cy="865227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0" name="Text 8"/>
          <p:cNvSpPr/>
          <p:nvPr/>
        </p:nvSpPr>
        <p:spPr>
          <a:xfrm>
            <a:off x="7546181" y="133052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Task Categorization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546181" y="1575673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Categorize tasks into assignments, readings, practice problems, and projects for a clear and organized study plan.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96835" y="2180511"/>
            <a:ext cx="6861691" cy="865227"/>
          </a:xfrm>
          <a:prstGeom prst="roundRect">
            <a:avLst>
              <a:gd name="adj" fmla="val 8455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1595" y="2180511"/>
            <a:ext cx="60960" cy="865227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4" name="Text 12"/>
          <p:cNvSpPr/>
          <p:nvPr/>
        </p:nvSpPr>
        <p:spPr>
          <a:xfrm>
            <a:off x="571143" y="2309098"/>
            <a:ext cx="211502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Dynamic Deadline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143" y="2554248"/>
            <a:ext cx="6558796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all deadlines at a glance and receive smart reminders to keep you on track without last-minute stress.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371874" y="2180511"/>
            <a:ext cx="6861691" cy="865227"/>
          </a:xfrm>
          <a:prstGeom prst="roundRect">
            <a:avLst>
              <a:gd name="adj" fmla="val 8455"/>
            </a:avLst>
          </a:prstGeom>
          <a:solidFill>
            <a:srgbClr val="1F1F1F"/>
          </a:solidFill>
          <a:ln w="15240">
            <a:solidFill>
              <a:srgbClr val="5757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56634" y="2180511"/>
            <a:ext cx="60960" cy="865227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8" name="Text 16"/>
          <p:cNvSpPr/>
          <p:nvPr/>
        </p:nvSpPr>
        <p:spPr>
          <a:xfrm>
            <a:off x="7546181" y="2309098"/>
            <a:ext cx="2015252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Intelligent Workload Balancing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46181" y="2554248"/>
            <a:ext cx="6558796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personalized recommendations to distribute your study load evenly across subjects, preventing burnout and promoting consistent learning.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96835" y="3173254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Below is an example of a typical subject breakdown, illustrating how your study time and tasks are distributed across different courses, ensuring a balanced academic focus.</a:t>
            </a:r>
            <a:endParaRPr lang="en-US" sz="8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42" y="3382201"/>
            <a:ext cx="7291430" cy="400729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471618" y="7680248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494904"/>
          </a:solidFill>
          <a:ln/>
        </p:spPr>
      </p:sp>
      <p:sp>
        <p:nvSpPr>
          <p:cNvPr id="23" name="Text 20"/>
          <p:cNvSpPr/>
          <p:nvPr/>
        </p:nvSpPr>
        <p:spPr>
          <a:xfrm rot="10800000" flipV="1">
            <a:off x="2624673" y="7685653"/>
            <a:ext cx="935474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Science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240760" y="7693807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969608"/>
          </a:solidFill>
          <a:ln/>
        </p:spPr>
      </p:sp>
      <p:sp>
        <p:nvSpPr>
          <p:cNvPr id="25" name="Text 22"/>
          <p:cNvSpPr/>
          <p:nvPr/>
        </p:nvSpPr>
        <p:spPr>
          <a:xfrm>
            <a:off x="3404473" y="7710906"/>
            <a:ext cx="683776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Mathematics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190766" y="7704954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E3E30C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340865" y="7728554"/>
            <a:ext cx="521137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Literature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952592" y="7716107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F5F54C"/>
          </a:solidFill>
          <a:ln/>
        </p:spPr>
      </p:sp>
      <p:sp>
        <p:nvSpPr>
          <p:cNvPr id="29" name="Text 26"/>
          <p:cNvSpPr/>
          <p:nvPr/>
        </p:nvSpPr>
        <p:spPr>
          <a:xfrm>
            <a:off x="5114618" y="7739479"/>
            <a:ext cx="377904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History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563744" y="7738442"/>
            <a:ext cx="113348" cy="113348"/>
          </a:xfrm>
          <a:prstGeom prst="roundRect">
            <a:avLst>
              <a:gd name="adj" fmla="val 16134"/>
            </a:avLst>
          </a:prstGeom>
          <a:solidFill>
            <a:srgbClr val="F9F999"/>
          </a:solidFill>
          <a:ln/>
        </p:spPr>
      </p:sp>
      <p:sp>
        <p:nvSpPr>
          <p:cNvPr id="31" name="Text 28"/>
          <p:cNvSpPr/>
          <p:nvPr/>
        </p:nvSpPr>
        <p:spPr>
          <a:xfrm>
            <a:off x="5745138" y="7760369"/>
            <a:ext cx="452914" cy="1134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Electives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162401" y="782704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chart represents a student's workload distribution, with Science and Mathematics accounting for the largest portions, while Literature, History, and Electives comprise the remainder. This visual helps in understanding where the most effort is directed.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6696" y="994291"/>
            <a:ext cx="7095768" cy="411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Upcoming Study Sessions &amp; Smart Scheduling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946696" y="1602462"/>
            <a:ext cx="8223409" cy="421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dashboard revolutionizes your study routine with intelligent scheduling, ensuring every minute counts towards your academic success while preventing burnout.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946696" y="2368510"/>
            <a:ext cx="8223409" cy="970240"/>
          </a:xfrm>
          <a:prstGeom prst="roundRect">
            <a:avLst>
              <a:gd name="adj" fmla="val 7540"/>
            </a:avLst>
          </a:prstGeom>
          <a:solidFill>
            <a:srgbClr val="1F1F1F"/>
          </a:solidFill>
          <a:ln/>
        </p:spPr>
      </p:sp>
      <p:sp>
        <p:nvSpPr>
          <p:cNvPr id="6" name="Shape 3"/>
          <p:cNvSpPr/>
          <p:nvPr/>
        </p:nvSpPr>
        <p:spPr>
          <a:xfrm>
            <a:off x="5946696" y="2353270"/>
            <a:ext cx="8223409" cy="60960"/>
          </a:xfrm>
          <a:prstGeom prst="roundRect">
            <a:avLst>
              <a:gd name="adj" fmla="val 32363"/>
            </a:avLst>
          </a:prstGeom>
          <a:solidFill>
            <a:srgbClr val="F5F547"/>
          </a:solidFill>
          <a:ln/>
        </p:spPr>
      </p:sp>
      <p:sp>
        <p:nvSpPr>
          <p:cNvPr id="7" name="Shape 4"/>
          <p:cNvSpPr/>
          <p:nvPr/>
        </p:nvSpPr>
        <p:spPr>
          <a:xfrm>
            <a:off x="9861173" y="2171343"/>
            <a:ext cx="394454" cy="394454"/>
          </a:xfrm>
          <a:prstGeom prst="roundRect">
            <a:avLst>
              <a:gd name="adj" fmla="val 231814"/>
            </a:avLst>
          </a:prstGeom>
          <a:solidFill>
            <a:srgbClr val="F5F547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79521" y="2289572"/>
            <a:ext cx="157758" cy="1577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3381" y="2697242"/>
            <a:ext cx="2269927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AI Session Recommendations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93381" y="2981563"/>
            <a:ext cx="7930039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 personalized study session suggestions based on your learning patterns and academic goals for optimal efficiency.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946696" y="3667363"/>
            <a:ext cx="8223409" cy="970240"/>
          </a:xfrm>
          <a:prstGeom prst="roundRect">
            <a:avLst>
              <a:gd name="adj" fmla="val 7540"/>
            </a:avLst>
          </a:prstGeom>
          <a:solidFill>
            <a:srgbClr val="1F1F1F"/>
          </a:solidFill>
          <a:ln/>
        </p:spPr>
      </p:sp>
      <p:sp>
        <p:nvSpPr>
          <p:cNvPr id="12" name="Shape 8"/>
          <p:cNvSpPr/>
          <p:nvPr/>
        </p:nvSpPr>
        <p:spPr>
          <a:xfrm>
            <a:off x="5946696" y="3652123"/>
            <a:ext cx="8223409" cy="60960"/>
          </a:xfrm>
          <a:prstGeom prst="roundRect">
            <a:avLst>
              <a:gd name="adj" fmla="val 32363"/>
            </a:avLst>
          </a:prstGeom>
          <a:solidFill>
            <a:srgbClr val="F5F547"/>
          </a:solidFill>
          <a:ln/>
        </p:spPr>
      </p:sp>
      <p:sp>
        <p:nvSpPr>
          <p:cNvPr id="13" name="Shape 9"/>
          <p:cNvSpPr/>
          <p:nvPr/>
        </p:nvSpPr>
        <p:spPr>
          <a:xfrm>
            <a:off x="9861173" y="3470196"/>
            <a:ext cx="394454" cy="394454"/>
          </a:xfrm>
          <a:prstGeom prst="roundRect">
            <a:avLst>
              <a:gd name="adj" fmla="val 231814"/>
            </a:avLst>
          </a:prstGeom>
          <a:solidFill>
            <a:srgbClr val="F5F547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79521" y="3588425"/>
            <a:ext cx="157758" cy="15775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93381" y="3996095"/>
            <a:ext cx="1871186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 Calendar Sync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093381" y="4280416"/>
            <a:ext cx="7930039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effortlessly with your existing digital calendars, bringing all your commitments into one unified, manageable view.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946696" y="4966216"/>
            <a:ext cx="8223409" cy="970240"/>
          </a:xfrm>
          <a:prstGeom prst="roundRect">
            <a:avLst>
              <a:gd name="adj" fmla="val 7540"/>
            </a:avLst>
          </a:prstGeom>
          <a:solidFill>
            <a:srgbClr val="1F1F1F"/>
          </a:solidFill>
          <a:ln/>
        </p:spPr>
      </p:sp>
      <p:sp>
        <p:nvSpPr>
          <p:cNvPr id="18" name="Shape 13"/>
          <p:cNvSpPr/>
          <p:nvPr/>
        </p:nvSpPr>
        <p:spPr>
          <a:xfrm>
            <a:off x="5946696" y="4950976"/>
            <a:ext cx="8223409" cy="60960"/>
          </a:xfrm>
          <a:prstGeom prst="roundRect">
            <a:avLst>
              <a:gd name="adj" fmla="val 32363"/>
            </a:avLst>
          </a:prstGeom>
          <a:solidFill>
            <a:srgbClr val="F5F547"/>
          </a:solidFill>
          <a:ln/>
        </p:spPr>
      </p:sp>
      <p:sp>
        <p:nvSpPr>
          <p:cNvPr id="19" name="Shape 14"/>
          <p:cNvSpPr/>
          <p:nvPr/>
        </p:nvSpPr>
        <p:spPr>
          <a:xfrm>
            <a:off x="9861173" y="4769048"/>
            <a:ext cx="394454" cy="394454"/>
          </a:xfrm>
          <a:prstGeom prst="roundRect">
            <a:avLst>
              <a:gd name="adj" fmla="val 231814"/>
            </a:avLst>
          </a:prstGeom>
          <a:solidFill>
            <a:srgbClr val="F5F547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79521" y="4887278"/>
            <a:ext cx="157758" cy="1577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93381" y="5294948"/>
            <a:ext cx="2020729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Optimal Study Time Alerts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6093381" y="5579269"/>
            <a:ext cx="7930039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 AI to identify and suggest your most productive hours, maximizing retention and minimizing wasted effort.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946696" y="6265069"/>
            <a:ext cx="8223409" cy="970240"/>
          </a:xfrm>
          <a:prstGeom prst="roundRect">
            <a:avLst>
              <a:gd name="adj" fmla="val 7540"/>
            </a:avLst>
          </a:prstGeom>
          <a:solidFill>
            <a:srgbClr val="1F1F1F"/>
          </a:solidFill>
          <a:ln/>
        </p:spPr>
      </p:sp>
      <p:sp>
        <p:nvSpPr>
          <p:cNvPr id="24" name="Shape 18"/>
          <p:cNvSpPr/>
          <p:nvPr/>
        </p:nvSpPr>
        <p:spPr>
          <a:xfrm>
            <a:off x="5946696" y="6249829"/>
            <a:ext cx="8223409" cy="60960"/>
          </a:xfrm>
          <a:prstGeom prst="roundRect">
            <a:avLst>
              <a:gd name="adj" fmla="val 32363"/>
            </a:avLst>
          </a:prstGeom>
          <a:solidFill>
            <a:srgbClr val="F5F547"/>
          </a:solidFill>
          <a:ln/>
        </p:spPr>
      </p:sp>
      <p:sp>
        <p:nvSpPr>
          <p:cNvPr id="25" name="Shape 19"/>
          <p:cNvSpPr/>
          <p:nvPr/>
        </p:nvSpPr>
        <p:spPr>
          <a:xfrm>
            <a:off x="9861173" y="6067901"/>
            <a:ext cx="394454" cy="394454"/>
          </a:xfrm>
          <a:prstGeom prst="roundRect">
            <a:avLst>
              <a:gd name="adj" fmla="val 231814"/>
            </a:avLst>
          </a:prstGeom>
          <a:solidFill>
            <a:srgbClr val="F5F54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79521" y="6186130"/>
            <a:ext cx="157758" cy="15775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93381" y="6593800"/>
            <a:ext cx="2047280" cy="205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Break Planning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093381" y="6878122"/>
            <a:ext cx="7930039" cy="210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Intelligently schedule restorative breaks to combat fatigue and maintain peak concentration throughout your study sessions.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6835" y="311825"/>
            <a:ext cx="57831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Achievement System &amp; Progress Motivation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96835" y="892969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dashboard gamifies your learning journey, transforming study into an engaging quest. Unlock milestones, earn rewards, and celebrate every step forward to cultivate lasting study habits.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835" y="1201936"/>
            <a:ext cx="283488" cy="283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008" y="12692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Milestone Tracking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22008" y="1514356"/>
            <a:ext cx="6422350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your journey towards larger academic goals with clear, achievable milestones that keep you focused and motivated.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6042" y="1201936"/>
            <a:ext cx="283488" cy="2834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811214" y="1269206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Badge Rewards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1214" y="1514356"/>
            <a:ext cx="6422350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Earn unique digital badges for mastering subjects, completing challenges, and demonstrating consistent effort, celebrating your accomplishments.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6835" y="2104073"/>
            <a:ext cx="283488" cy="2834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008" y="217134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Streak Counters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22008" y="2416493"/>
            <a:ext cx="6422350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Maintain consistent study habits with daily streak counters, encouraging continuous engagement and building discipline over time.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86042" y="2104073"/>
            <a:ext cx="283488" cy="283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811214" y="2171343"/>
            <a:ext cx="1459706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Progress Celebrations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811214" y="2416493"/>
            <a:ext cx="6422350" cy="362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Get recognized for your efforts! Automated celebrations acknowledge your achievements, boosting morale and reinforcing positive study behaviors.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396835" y="2906911"/>
            <a:ext cx="138367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By integrating these gamified elements, the AI Study Planner Dashboard turns learning into a rewarding experience, driving continuous improvement and helping you build strong, enduring study habits.</a:t>
            </a:r>
            <a:endParaRPr lang="en-US" sz="8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6835" y="3215878"/>
            <a:ext cx="8619411" cy="44803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7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2812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AI Study Planner Dashboard transforms academic productivity through intelligent analytics, smart scheduling, and personalized insights, making your learning journey more engaging and effective.</a:t>
            </a:r>
            <a:endParaRPr lang="en-US" sz="1750" dirty="0"/>
          </a:p>
        </p:txBody>
      </p:sp>
      <p:pic>
        <p:nvPicPr>
          <p:cNvPr id="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109079"/>
            <a:ext cx="3182541" cy="623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33951" y="4243149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"The beautiful thing about learning is that no one can take it away from you." - B.B. King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793790" y="3987998"/>
            <a:ext cx="30480" cy="873204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7" name="Text 4"/>
          <p:cNvSpPr/>
          <p:nvPr/>
        </p:nvSpPr>
        <p:spPr>
          <a:xfrm>
            <a:off x="793790" y="52013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Contact Us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93790" y="5895856"/>
            <a:ext cx="6407944" cy="1367909"/>
          </a:xfrm>
          <a:prstGeom prst="roundRect">
            <a:avLst>
              <a:gd name="adj" fmla="val 10695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310" y="589585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0" name="Text 7"/>
          <p:cNvSpPr/>
          <p:nvPr/>
        </p:nvSpPr>
        <p:spPr>
          <a:xfrm>
            <a:off x="1142524" y="6153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Email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142524" y="6643568"/>
            <a:ext cx="58019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support@aistudyplanner.com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428548" y="5895856"/>
            <a:ext cx="6408063" cy="1367909"/>
          </a:xfrm>
          <a:prstGeom prst="roundRect">
            <a:avLst>
              <a:gd name="adj" fmla="val 10695"/>
            </a:avLst>
          </a:prstGeom>
          <a:solidFill>
            <a:srgbClr val="1F1F1F"/>
          </a:solidFill>
          <a:ln w="30480">
            <a:solidFill>
              <a:srgbClr val="57575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98067" y="5895856"/>
            <a:ext cx="121920" cy="1367909"/>
          </a:xfrm>
          <a:prstGeom prst="roundRect">
            <a:avLst>
              <a:gd name="adj" fmla="val 27907"/>
            </a:avLst>
          </a:prstGeom>
          <a:solidFill>
            <a:srgbClr val="F5F547"/>
          </a:solidFill>
          <a:ln/>
        </p:spPr>
      </p:sp>
      <p:sp>
        <p:nvSpPr>
          <p:cNvPr id="14" name="Text 11"/>
          <p:cNvSpPr/>
          <p:nvPr/>
        </p:nvSpPr>
        <p:spPr>
          <a:xfrm>
            <a:off x="7777282" y="615315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Phone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777282" y="6643568"/>
            <a:ext cx="580203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+1 (555) 123-STUDY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1024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Instrument Sans Medium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krishna vamsi</dc:creator>
  <cp:lastModifiedBy>krishna vamsi</cp:lastModifiedBy>
  <cp:revision>3</cp:revision>
  <dcterms:created xsi:type="dcterms:W3CDTF">2025-10-17T15:32:38Z</dcterms:created>
  <dcterms:modified xsi:type="dcterms:W3CDTF">2025-10-18T07:38:31Z</dcterms:modified>
</cp:coreProperties>
</file>